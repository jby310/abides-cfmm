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0" userDrawn="1">
          <p15:clr>
            <a:srgbClr val="A4A3A4"/>
          </p15:clr>
        </p15:guide>
        <p15:guide id="2" pos="36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40"/>
        <p:guide pos="367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1117600" y="1419225"/>
            <a:ext cx="7527925" cy="42081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089025" y="901700"/>
            <a:ext cx="20815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微软雅黑" panose="020B0503020204020204" charset="-122"/>
                <a:ea typeface="微软雅黑" panose="020B0503020204020204" charset="-122"/>
              </a:rPr>
              <a:t>ABIDES-CFMM</a:t>
            </a:r>
            <a:endParaRPr lang="en-US" altLang="zh-CN" sz="2000" b="1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31" name="组合 30"/>
          <p:cNvGrpSpPr/>
          <p:nvPr/>
        </p:nvGrpSpPr>
        <p:grpSpPr>
          <a:xfrm rot="0">
            <a:off x="5727700" y="3068320"/>
            <a:ext cx="2166620" cy="473075"/>
            <a:chOff x="7788" y="5612"/>
            <a:chExt cx="3906" cy="778"/>
          </a:xfrm>
          <a:solidFill>
            <a:schemeClr val="bg2">
              <a:lumMod val="90000"/>
            </a:schemeClr>
          </a:solidFill>
        </p:grpSpPr>
        <p:sp>
          <p:nvSpPr>
            <p:cNvPr id="32" name="椭圆 31"/>
            <p:cNvSpPr/>
            <p:nvPr/>
          </p:nvSpPr>
          <p:spPr>
            <a:xfrm>
              <a:off x="7788" y="5612"/>
              <a:ext cx="3906" cy="778"/>
            </a:xfrm>
            <a:prstGeom prst="ellipse">
              <a:avLst/>
            </a:prstGeom>
            <a:grp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8267" y="5740"/>
              <a:ext cx="3277" cy="4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 b="1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MarketHybridAgent</a:t>
              </a:r>
              <a:endParaRPr lang="en-US" altLang="zh-CN" sz="1200" b="1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grpSp>
        <p:nvGrpSpPr>
          <p:cNvPr id="98" name="组合 97"/>
          <p:cNvGrpSpPr/>
          <p:nvPr/>
        </p:nvGrpSpPr>
        <p:grpSpPr>
          <a:xfrm>
            <a:off x="5404485" y="1479550"/>
            <a:ext cx="3205480" cy="3635375"/>
            <a:chOff x="9491" y="2330"/>
            <a:chExt cx="5087" cy="5464"/>
          </a:xfrm>
        </p:grpSpPr>
        <p:sp>
          <p:nvSpPr>
            <p:cNvPr id="38" name="文本框 37"/>
            <p:cNvSpPr txBox="1"/>
            <p:nvPr/>
          </p:nvSpPr>
          <p:spPr>
            <a:xfrm>
              <a:off x="9491" y="2330"/>
              <a:ext cx="2688" cy="5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400" b="1">
                  <a:latin typeface="微软雅黑" panose="020B0503020204020204" charset="-122"/>
                  <a:ea typeface="微软雅黑" panose="020B0503020204020204" charset="-122"/>
                </a:rPr>
                <a:t>CFMM MODE</a:t>
              </a:r>
              <a:endParaRPr lang="en-US" altLang="zh-CN" sz="1400" b="1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grpSp>
          <p:nvGrpSpPr>
            <p:cNvPr id="96" name="组合 95"/>
            <p:cNvGrpSpPr/>
            <p:nvPr/>
          </p:nvGrpSpPr>
          <p:grpSpPr>
            <a:xfrm>
              <a:off x="9491" y="2331"/>
              <a:ext cx="5087" cy="5463"/>
              <a:chOff x="9491" y="2331"/>
              <a:chExt cx="5087" cy="7121"/>
            </a:xfrm>
          </p:grpSpPr>
          <p:grpSp>
            <p:nvGrpSpPr>
              <p:cNvPr id="46" name="组合 45"/>
              <p:cNvGrpSpPr/>
              <p:nvPr/>
            </p:nvGrpSpPr>
            <p:grpSpPr>
              <a:xfrm rot="0">
                <a:off x="9491" y="2331"/>
                <a:ext cx="5087" cy="7112"/>
                <a:chOff x="2148" y="1681"/>
                <a:chExt cx="5583" cy="7746"/>
              </a:xfrm>
            </p:grpSpPr>
            <p:sp>
              <p:nvSpPr>
                <p:cNvPr id="47" name="矩形 46"/>
                <p:cNvSpPr/>
                <p:nvPr/>
              </p:nvSpPr>
              <p:spPr>
                <a:xfrm>
                  <a:off x="2148" y="1681"/>
                  <a:ext cx="5583" cy="774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400"/>
                </a:p>
              </p:txBody>
            </p:sp>
            <p:cxnSp>
              <p:nvCxnSpPr>
                <p:cNvPr id="48" name="直接连接符 47"/>
                <p:cNvCxnSpPr/>
                <p:nvPr/>
              </p:nvCxnSpPr>
              <p:spPr>
                <a:xfrm>
                  <a:off x="2148" y="4188"/>
                  <a:ext cx="5583" cy="1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" name="文本框 52"/>
              <p:cNvSpPr txBox="1"/>
              <p:nvPr/>
            </p:nvSpPr>
            <p:spPr>
              <a:xfrm>
                <a:off x="10875" y="8791"/>
                <a:ext cx="2274" cy="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b="1">
                    <a:latin typeface="微软雅黑" panose="020B0503020204020204" charset="-122"/>
                    <a:ea typeface="微软雅黑" panose="020B0503020204020204" charset="-122"/>
                  </a:rPr>
                  <a:t>Foreground</a:t>
                </a:r>
                <a:endParaRPr lang="en-US" altLang="zh-CN" sz="16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94" name="组合 93"/>
          <p:cNvGrpSpPr/>
          <p:nvPr/>
        </p:nvGrpSpPr>
        <p:grpSpPr>
          <a:xfrm>
            <a:off x="5507355" y="1849755"/>
            <a:ext cx="3181985" cy="512445"/>
            <a:chOff x="10635" y="2722"/>
            <a:chExt cx="5011" cy="807"/>
          </a:xfrm>
        </p:grpSpPr>
        <p:grpSp>
          <p:nvGrpSpPr>
            <p:cNvPr id="41" name="组合 40"/>
            <p:cNvGrpSpPr/>
            <p:nvPr/>
          </p:nvGrpSpPr>
          <p:grpSpPr>
            <a:xfrm rot="0">
              <a:off x="10635" y="2722"/>
              <a:ext cx="2099" cy="772"/>
              <a:chOff x="14070" y="2117"/>
              <a:chExt cx="2458" cy="816"/>
            </a:xfrm>
          </p:grpSpPr>
          <p:sp>
            <p:nvSpPr>
              <p:cNvPr id="42" name="梯形 41"/>
              <p:cNvSpPr/>
              <p:nvPr/>
            </p:nvSpPr>
            <p:spPr>
              <a:xfrm>
                <a:off x="14070" y="2117"/>
                <a:ext cx="2458" cy="816"/>
              </a:xfrm>
              <a:prstGeom prst="trapezoid">
                <a:avLst/>
              </a:pr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400"/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14312" y="2274"/>
                <a:ext cx="2131" cy="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</a:bodyPr>
              <a:p>
                <a:r>
                  <a:rPr lang="en-US" altLang="zh-CN" sz="1200" b="1"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sym typeface="+mn-ea"/>
                  </a:rPr>
                  <a:t>CFMMAgent</a:t>
                </a:r>
                <a:endParaRPr lang="en-US" altLang="zh-CN" sz="1200" b="1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endParaRPr>
              </a:p>
            </p:txBody>
          </p:sp>
        </p:grpSp>
        <p:grpSp>
          <p:nvGrpSpPr>
            <p:cNvPr id="64" name="组合 63"/>
            <p:cNvGrpSpPr/>
            <p:nvPr/>
          </p:nvGrpSpPr>
          <p:grpSpPr>
            <a:xfrm rot="0">
              <a:off x="13400" y="2733"/>
              <a:ext cx="2246" cy="796"/>
              <a:chOff x="12332" y="807"/>
              <a:chExt cx="2718" cy="796"/>
            </a:xfrm>
          </p:grpSpPr>
          <p:sp>
            <p:nvSpPr>
              <p:cNvPr id="62" name="圆角矩形 61"/>
              <p:cNvSpPr/>
              <p:nvPr/>
            </p:nvSpPr>
            <p:spPr>
              <a:xfrm>
                <a:off x="12332" y="807"/>
                <a:ext cx="2417" cy="796"/>
              </a:xfrm>
              <a:prstGeom prst="roundRect">
                <a:avLst/>
              </a:prstGeom>
              <a:solidFill>
                <a:schemeClr val="accent4">
                  <a:lumMod val="75000"/>
                </a:schemeClr>
              </a:solidFill>
              <a:ln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2332" y="977"/>
                <a:ext cx="2718" cy="43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en-US" altLang="zh-CN" sz="1200" b="1"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sym typeface="+mn-ea"/>
                  </a:rPr>
                  <a:t>Currency Pool</a:t>
                </a:r>
                <a:endParaRPr lang="en-US" altLang="zh-CN" sz="1200" b="1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endParaRPr>
              </a:p>
            </p:txBody>
          </p:sp>
        </p:grpSp>
        <p:sp>
          <p:nvSpPr>
            <p:cNvPr id="78" name="左右箭头 77"/>
            <p:cNvSpPr/>
            <p:nvPr/>
          </p:nvSpPr>
          <p:spPr>
            <a:xfrm>
              <a:off x="12711" y="2992"/>
              <a:ext cx="573" cy="232"/>
            </a:xfrm>
            <a:prstGeom prst="leftRightArrow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9" name="上下箭头 78"/>
          <p:cNvSpPr/>
          <p:nvPr/>
        </p:nvSpPr>
        <p:spPr>
          <a:xfrm rot="20100000">
            <a:off x="6478905" y="2374900"/>
            <a:ext cx="185420" cy="556260"/>
          </a:xfrm>
          <a:prstGeom prst="up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/>
        </p:nvGrpSpPr>
        <p:grpSpPr>
          <a:xfrm rot="0">
            <a:off x="5877560" y="3997960"/>
            <a:ext cx="2034540" cy="802005"/>
            <a:chOff x="8400" y="4927"/>
            <a:chExt cx="3204" cy="1263"/>
          </a:xfrm>
        </p:grpSpPr>
        <p:sp>
          <p:nvSpPr>
            <p:cNvPr id="83" name="菱形 82"/>
            <p:cNvSpPr/>
            <p:nvPr/>
          </p:nvSpPr>
          <p:spPr>
            <a:xfrm>
              <a:off x="8400" y="4927"/>
              <a:ext cx="3204" cy="1263"/>
            </a:xfrm>
            <a:prstGeom prst="diamond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8929" y="5314"/>
              <a:ext cx="2137" cy="43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1200" b="1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Routing Method</a:t>
              </a:r>
              <a:endParaRPr lang="en-US" altLang="zh-CN" sz="1200" b="1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 rot="0">
            <a:off x="1233170" y="4073525"/>
            <a:ext cx="1676400" cy="466725"/>
            <a:chOff x="7788" y="5612"/>
            <a:chExt cx="3660" cy="777"/>
          </a:xfrm>
        </p:grpSpPr>
        <p:sp>
          <p:nvSpPr>
            <p:cNvPr id="11" name="椭圆 10"/>
            <p:cNvSpPr/>
            <p:nvPr/>
          </p:nvSpPr>
          <p:spPr>
            <a:xfrm>
              <a:off x="7788" y="5612"/>
              <a:ext cx="3660" cy="777"/>
            </a:xfrm>
            <a:prstGeom prst="ellips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8267" y="5740"/>
              <a:ext cx="3118" cy="4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MomentumAgent</a:t>
              </a:r>
              <a:endParaRPr lang="en-US" altLang="zh-CN" sz="1200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 rot="0">
            <a:off x="3621405" y="3531235"/>
            <a:ext cx="1576070" cy="466725"/>
            <a:chOff x="7788" y="5612"/>
            <a:chExt cx="2951" cy="777"/>
          </a:xfrm>
        </p:grpSpPr>
        <p:sp>
          <p:nvSpPr>
            <p:cNvPr id="14" name="椭圆 13"/>
            <p:cNvSpPr/>
            <p:nvPr/>
          </p:nvSpPr>
          <p:spPr>
            <a:xfrm>
              <a:off x="7788" y="5612"/>
              <a:ext cx="2951" cy="777"/>
            </a:xfrm>
            <a:prstGeom prst="ellips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433" y="5753"/>
              <a:ext cx="2132" cy="4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NoiseAgent</a:t>
              </a:r>
              <a:endParaRPr lang="en-US" altLang="zh-CN" sz="1200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 rot="0">
            <a:off x="3787775" y="2928620"/>
            <a:ext cx="1403350" cy="466725"/>
            <a:chOff x="9298" y="2543"/>
            <a:chExt cx="3048" cy="777"/>
          </a:xfrm>
        </p:grpSpPr>
        <p:sp>
          <p:nvSpPr>
            <p:cNvPr id="17" name="椭圆 16"/>
            <p:cNvSpPr/>
            <p:nvPr/>
          </p:nvSpPr>
          <p:spPr>
            <a:xfrm>
              <a:off x="9298" y="2543"/>
              <a:ext cx="3048" cy="777"/>
            </a:xfrm>
            <a:prstGeom prst="ellips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9777" y="2671"/>
              <a:ext cx="2141" cy="4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ValueAgent</a:t>
              </a:r>
              <a:endParaRPr lang="en-US" altLang="zh-CN" sz="1200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 rot="0">
            <a:off x="1551305" y="1811020"/>
            <a:ext cx="1569459" cy="508000"/>
            <a:chOff x="14070" y="2117"/>
            <a:chExt cx="2894" cy="845"/>
          </a:xfrm>
        </p:grpSpPr>
        <p:sp>
          <p:nvSpPr>
            <p:cNvPr id="39" name="梯形 38"/>
            <p:cNvSpPr/>
            <p:nvPr/>
          </p:nvSpPr>
          <p:spPr>
            <a:xfrm>
              <a:off x="14070" y="2117"/>
              <a:ext cx="2894" cy="845"/>
            </a:xfrm>
            <a:prstGeom prst="trapezoid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14283" y="2339"/>
              <a:ext cx="2482" cy="458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 b="1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ExchangeAgent</a:t>
              </a:r>
              <a:endParaRPr lang="en-US" altLang="zh-CN" sz="1200" b="1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grpSp>
        <p:nvGrpSpPr>
          <p:cNvPr id="25" name="组合 24"/>
          <p:cNvGrpSpPr/>
          <p:nvPr/>
        </p:nvGrpSpPr>
        <p:grpSpPr>
          <a:xfrm rot="0">
            <a:off x="1233170" y="3503295"/>
            <a:ext cx="1887855" cy="466725"/>
            <a:chOff x="7788" y="5612"/>
            <a:chExt cx="3863" cy="777"/>
          </a:xfrm>
        </p:grpSpPr>
        <p:sp>
          <p:nvSpPr>
            <p:cNvPr id="26" name="椭圆 25"/>
            <p:cNvSpPr/>
            <p:nvPr/>
          </p:nvSpPr>
          <p:spPr>
            <a:xfrm>
              <a:off x="7788" y="5612"/>
              <a:ext cx="3863" cy="777"/>
            </a:xfrm>
            <a:prstGeom prst="ellips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8267" y="5740"/>
              <a:ext cx="2964" cy="4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PovExcutionAgent</a:t>
              </a:r>
              <a:endParaRPr lang="en-US" altLang="zh-CN" sz="1200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 rot="0">
            <a:off x="1233170" y="2908935"/>
            <a:ext cx="2495550" cy="513080"/>
            <a:chOff x="7788" y="5543"/>
            <a:chExt cx="4840" cy="854"/>
          </a:xfrm>
        </p:grpSpPr>
        <p:sp>
          <p:nvSpPr>
            <p:cNvPr id="29" name="椭圆 28"/>
            <p:cNvSpPr/>
            <p:nvPr/>
          </p:nvSpPr>
          <p:spPr>
            <a:xfrm>
              <a:off x="7788" y="5543"/>
              <a:ext cx="4840" cy="854"/>
            </a:xfrm>
            <a:prstGeom prst="ellips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8122" y="5704"/>
              <a:ext cx="4293" cy="4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AdaptiveMarketMaker</a:t>
              </a:r>
              <a:r>
                <a:rPr lang="en-US" altLang="zh-CN" sz="120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Agent</a:t>
              </a:r>
              <a:endParaRPr lang="en-US" altLang="zh-CN" sz="120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 rot="0">
            <a:off x="3623310" y="848995"/>
            <a:ext cx="1566545" cy="480695"/>
            <a:chOff x="14477" y="4108"/>
            <a:chExt cx="3699" cy="757"/>
          </a:xfrm>
          <a:solidFill>
            <a:schemeClr val="accent6"/>
          </a:solidFill>
        </p:grpSpPr>
        <p:sp>
          <p:nvSpPr>
            <p:cNvPr id="54" name="矩形 53"/>
            <p:cNvSpPr/>
            <p:nvPr/>
          </p:nvSpPr>
          <p:spPr>
            <a:xfrm>
              <a:off x="14477" y="4108"/>
              <a:ext cx="3699" cy="757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772" y="4233"/>
              <a:ext cx="3103" cy="424"/>
            </a:xfrm>
            <a:prstGeom prst="rect">
              <a:avLst/>
            </a:prstGeom>
            <a:grp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no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 b="1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SnapshotAgent</a:t>
              </a:r>
              <a:endParaRPr lang="en-US" altLang="zh-CN" sz="1200" b="1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cxnSp>
        <p:nvCxnSpPr>
          <p:cNvPr id="44" name="直接连接符 43"/>
          <p:cNvCxnSpPr/>
          <p:nvPr/>
        </p:nvCxnSpPr>
        <p:spPr>
          <a:xfrm>
            <a:off x="1154430" y="2642870"/>
            <a:ext cx="4093210" cy="14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154430" y="1480820"/>
            <a:ext cx="1428750" cy="3670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微软雅黑" panose="020B0503020204020204" charset="-122"/>
                <a:ea typeface="微软雅黑" panose="020B0503020204020204" charset="-122"/>
              </a:rPr>
              <a:t>CLOB </a:t>
            </a:r>
            <a:r>
              <a:rPr lang="en-US" altLang="zh-CN" sz="1400" b="1">
                <a:latin typeface="微软雅黑" panose="020B0503020204020204" charset="-122"/>
                <a:ea typeface="微软雅黑" panose="020B0503020204020204" charset="-122"/>
              </a:rPr>
              <a:t>MODE</a:t>
            </a:r>
            <a:endParaRPr lang="en-US" altLang="zh-CN" sz="1400" b="1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54430" y="1480185"/>
            <a:ext cx="4105275" cy="363601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52" name="文本框 51"/>
          <p:cNvSpPr txBox="1"/>
          <p:nvPr/>
        </p:nvSpPr>
        <p:spPr>
          <a:xfrm>
            <a:off x="2337435" y="4773295"/>
            <a:ext cx="15341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</a:rPr>
              <a:t>Background</a:t>
            </a:r>
            <a:endParaRPr lang="en-US" altLang="zh-CN" sz="1600" b="1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65" name="组合 64"/>
          <p:cNvGrpSpPr/>
          <p:nvPr/>
        </p:nvGrpSpPr>
        <p:grpSpPr>
          <a:xfrm rot="0">
            <a:off x="3676015" y="1832619"/>
            <a:ext cx="1282700" cy="494665"/>
            <a:chOff x="12332" y="900"/>
            <a:chExt cx="2417" cy="796"/>
          </a:xfrm>
          <a:solidFill>
            <a:schemeClr val="accent2">
              <a:lumMod val="75000"/>
            </a:schemeClr>
          </a:solidFill>
        </p:grpSpPr>
        <p:sp>
          <p:nvSpPr>
            <p:cNvPr id="66" name="圆角矩形 65"/>
            <p:cNvSpPr/>
            <p:nvPr/>
          </p:nvSpPr>
          <p:spPr>
            <a:xfrm>
              <a:off x="12332" y="900"/>
              <a:ext cx="2417" cy="796"/>
            </a:xfrm>
            <a:prstGeom prst="roundRect">
              <a:avLst/>
            </a:prstGeom>
            <a:grpFill/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2636" y="1080"/>
              <a:ext cx="1940" cy="443"/>
            </a:xfrm>
            <a:prstGeom prst="rect">
              <a:avLst/>
            </a:prstGeom>
            <a:grpFill/>
          </p:spPr>
          <p:txBody>
            <a:bodyPr wrap="square" rtlCol="0" anchor="t">
              <a:spAutoFit/>
            </a:bodyPr>
            <a:p>
              <a:r>
                <a:rPr lang="en-US" altLang="zh-CN" sz="1200" b="1"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Order Book</a:t>
              </a:r>
              <a:endParaRPr lang="en-US" altLang="zh-CN" sz="1200" b="1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</p:grpSp>
      <p:sp>
        <p:nvSpPr>
          <p:cNvPr id="76" name="上下箭头 75"/>
          <p:cNvSpPr/>
          <p:nvPr/>
        </p:nvSpPr>
        <p:spPr>
          <a:xfrm>
            <a:off x="2288540" y="2339975"/>
            <a:ext cx="185420" cy="529590"/>
          </a:xfrm>
          <a:prstGeom prst="upDown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/>
          </a:p>
        </p:txBody>
      </p:sp>
      <p:sp>
        <p:nvSpPr>
          <p:cNvPr id="77" name="左右箭头 76"/>
          <p:cNvSpPr/>
          <p:nvPr/>
        </p:nvSpPr>
        <p:spPr>
          <a:xfrm>
            <a:off x="3121025" y="2021205"/>
            <a:ext cx="497205" cy="147320"/>
          </a:xfrm>
          <a:prstGeom prst="left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9" name="组合 88"/>
          <p:cNvGrpSpPr/>
          <p:nvPr/>
        </p:nvGrpSpPr>
        <p:grpSpPr>
          <a:xfrm rot="0">
            <a:off x="3072130" y="4131945"/>
            <a:ext cx="2026285" cy="473075"/>
            <a:chOff x="7788" y="5612"/>
            <a:chExt cx="3906" cy="778"/>
          </a:xfrm>
          <a:solidFill>
            <a:schemeClr val="accent1">
              <a:lumMod val="60000"/>
              <a:lumOff val="40000"/>
            </a:schemeClr>
          </a:solidFill>
        </p:grpSpPr>
        <p:sp>
          <p:nvSpPr>
            <p:cNvPr id="90" name="椭圆 89"/>
            <p:cNvSpPr/>
            <p:nvPr/>
          </p:nvSpPr>
          <p:spPr>
            <a:xfrm>
              <a:off x="7788" y="5612"/>
              <a:ext cx="3906" cy="778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91" name="文本框 90"/>
            <p:cNvSpPr txBox="1"/>
            <p:nvPr/>
          </p:nvSpPr>
          <p:spPr>
            <a:xfrm>
              <a:off x="8207" y="5762"/>
              <a:ext cx="3419" cy="4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r>
                <a:rPr lang="en-US" altLang="zh-CN" sz="1200" b="1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MarketHybridAgent</a:t>
              </a:r>
              <a:endParaRPr lang="en-US" altLang="zh-CN" sz="1200" b="1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sp>
        <p:nvSpPr>
          <p:cNvPr id="99" name="矩形 98"/>
          <p:cNvSpPr/>
          <p:nvPr/>
        </p:nvSpPr>
        <p:spPr>
          <a:xfrm>
            <a:off x="1114425" y="5627370"/>
            <a:ext cx="7531100" cy="53594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</a:rPr>
              <a:t>Kernel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上箭头 104"/>
          <p:cNvSpPr/>
          <p:nvPr/>
        </p:nvSpPr>
        <p:spPr>
          <a:xfrm>
            <a:off x="4284980" y="1339850"/>
            <a:ext cx="99060" cy="471170"/>
          </a:xfrm>
          <a:prstGeom prst="up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 sz="400"/>
          </a:p>
        </p:txBody>
      </p:sp>
      <p:sp>
        <p:nvSpPr>
          <p:cNvPr id="106" name="上下箭头 105"/>
          <p:cNvSpPr/>
          <p:nvPr/>
        </p:nvSpPr>
        <p:spPr>
          <a:xfrm>
            <a:off x="6802755" y="3556635"/>
            <a:ext cx="186690" cy="413385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8" name="上下箭头 107"/>
          <p:cNvSpPr/>
          <p:nvPr/>
        </p:nvSpPr>
        <p:spPr>
          <a:xfrm rot="16200000">
            <a:off x="5374640" y="4065270"/>
            <a:ext cx="212090" cy="654050"/>
          </a:xfrm>
          <a:prstGeom prst="upDownArrow">
            <a:avLst>
              <a:gd name="adj1" fmla="val 50000"/>
              <a:gd name="adj2" fmla="val 5868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上下箭头 33"/>
          <p:cNvSpPr/>
          <p:nvPr/>
        </p:nvSpPr>
        <p:spPr>
          <a:xfrm>
            <a:off x="6912610" y="5164455"/>
            <a:ext cx="185420" cy="424180"/>
          </a:xfrm>
          <a:prstGeom prst="up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/>
          </a:p>
        </p:txBody>
      </p:sp>
      <p:sp>
        <p:nvSpPr>
          <p:cNvPr id="49" name="上下箭头 48"/>
          <p:cNvSpPr/>
          <p:nvPr/>
        </p:nvSpPr>
        <p:spPr>
          <a:xfrm>
            <a:off x="2985135" y="5164455"/>
            <a:ext cx="185420" cy="424180"/>
          </a:xfrm>
          <a:prstGeom prst="up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/>
          </a:p>
        </p:txBody>
      </p:sp>
      <p:sp>
        <p:nvSpPr>
          <p:cNvPr id="50" name="文本框 49"/>
          <p:cNvSpPr txBox="1"/>
          <p:nvPr/>
        </p:nvSpPr>
        <p:spPr>
          <a:xfrm>
            <a:off x="3324225" y="5220335"/>
            <a:ext cx="33121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Wakeup / </a:t>
            </a:r>
            <a:r>
              <a:rPr lang="en-US" altLang="zh-CN"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SetWakeup / MsgQueue</a:t>
            </a:r>
            <a:endParaRPr lang="en-US" altLang="zh-CN"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833745" y="963295"/>
            <a:ext cx="2634615" cy="245110"/>
          </a:xfrm>
          <a:prstGeom prst="rect">
            <a:avLst/>
          </a:prstGeom>
          <a:ln w="28575">
            <a:solidFill>
              <a:srgbClr val="C00000"/>
            </a:solidFill>
            <a:prstDash val="sysDot"/>
          </a:ln>
        </p:spPr>
        <p:txBody>
          <a:bodyPr wrap="square">
            <a:spAutoFit/>
          </a:bodyPr>
          <a:p>
            <a:r>
              <a:rPr lang="en-US" altLang="zh-CN" sz="1000"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Liquidity Complementarity or Crowding-Out?  </a:t>
            </a:r>
            <a:endParaRPr lang="en-US" altLang="zh-CN" sz="1000"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59" name="上箭头 58"/>
          <p:cNvSpPr/>
          <p:nvPr/>
        </p:nvSpPr>
        <p:spPr>
          <a:xfrm rot="5400000">
            <a:off x="5410835" y="850900"/>
            <a:ext cx="184785" cy="448310"/>
          </a:xfrm>
          <a:prstGeom prst="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肘形连接符 18"/>
          <p:cNvCxnSpPr/>
          <p:nvPr/>
        </p:nvCxnSpPr>
        <p:spPr>
          <a:xfrm rot="10800000">
            <a:off x="4383405" y="1620520"/>
            <a:ext cx="1157605" cy="473075"/>
          </a:xfrm>
          <a:prstGeom prst="bentConnector3">
            <a:avLst>
              <a:gd name="adj1" fmla="val 32035"/>
            </a:avLst>
          </a:prstGeom>
          <a:ln w="38100"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4311015" y="1594485"/>
            <a:ext cx="1137285" cy="288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per second</a:t>
            </a:r>
            <a:endParaRPr lang="en-US" altLang="zh-CN" sz="1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椭圆 20"/>
          <p:cNvSpPr/>
          <p:nvPr/>
        </p:nvSpPr>
        <p:spPr>
          <a:xfrm>
            <a:off x="8914765" y="5527040"/>
            <a:ext cx="388620" cy="1403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22" name="梯形 21"/>
          <p:cNvSpPr/>
          <p:nvPr/>
        </p:nvSpPr>
        <p:spPr>
          <a:xfrm>
            <a:off x="8915400" y="5811520"/>
            <a:ext cx="388620" cy="167640"/>
          </a:xfrm>
          <a:prstGeom prst="trapezoi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9386570" y="5527040"/>
            <a:ext cx="815975" cy="193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800"/>
              <a:t>TradingAgent</a:t>
            </a:r>
            <a:endParaRPr lang="en-US" altLang="zh-CN" sz="800"/>
          </a:p>
        </p:txBody>
      </p:sp>
      <p:sp>
        <p:nvSpPr>
          <p:cNvPr id="35" name="文本框 34"/>
          <p:cNvSpPr txBox="1"/>
          <p:nvPr/>
        </p:nvSpPr>
        <p:spPr>
          <a:xfrm>
            <a:off x="9386570" y="5811520"/>
            <a:ext cx="970280" cy="193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800"/>
              <a:t>ExchangeAgent</a:t>
            </a:r>
            <a:endParaRPr lang="en-US" altLang="zh-CN" sz="80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</Words>
  <Application>WPS 演示</Application>
  <PresentationFormat>宽屏</PresentationFormat>
  <Paragraphs>48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　</cp:lastModifiedBy>
  <cp:revision>165</cp:revision>
  <dcterms:created xsi:type="dcterms:W3CDTF">2019-06-19T02:08:00Z</dcterms:created>
  <dcterms:modified xsi:type="dcterms:W3CDTF">2025-11-18T12:59:09Z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A11A589197B4457783307E8566AF8590_11</vt:lpwstr>
  </property>
</Properties>
</file>