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0"/>
        <p:guide pos="37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89025" y="901700"/>
            <a:ext cx="2081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ABIDES-CFMM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 rot="0">
            <a:off x="5727700" y="3068320"/>
            <a:ext cx="2166620" cy="473075"/>
            <a:chOff x="7788" y="5612"/>
            <a:chExt cx="3906" cy="778"/>
          </a:xfrm>
          <a:solidFill>
            <a:schemeClr val="bg2">
              <a:lumMod val="90000"/>
            </a:schemeClr>
          </a:solidFill>
        </p:grpSpPr>
        <p:sp>
          <p:nvSpPr>
            <p:cNvPr id="32" name="椭圆 31"/>
            <p:cNvSpPr/>
            <p:nvPr/>
          </p:nvSpPr>
          <p:spPr>
            <a:xfrm>
              <a:off x="7788" y="5612"/>
              <a:ext cx="3906" cy="778"/>
            </a:xfrm>
            <a:prstGeom prst="ellipse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267" y="5740"/>
              <a:ext cx="3277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 b="1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MarketHybridAgent</a:t>
              </a:r>
              <a:endParaRPr lang="en-US" altLang="zh-CN" sz="1200" b="1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5404485" y="1479550"/>
            <a:ext cx="3205480" cy="3635375"/>
            <a:chOff x="9491" y="2330"/>
            <a:chExt cx="5087" cy="5464"/>
          </a:xfrm>
        </p:grpSpPr>
        <p:sp>
          <p:nvSpPr>
            <p:cNvPr id="38" name="文本框 37"/>
            <p:cNvSpPr txBox="1"/>
            <p:nvPr/>
          </p:nvSpPr>
          <p:spPr>
            <a:xfrm>
              <a:off x="9491" y="2330"/>
              <a:ext cx="2688" cy="5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CFMM MODE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96" name="组合 95"/>
            <p:cNvGrpSpPr/>
            <p:nvPr/>
          </p:nvGrpSpPr>
          <p:grpSpPr>
            <a:xfrm>
              <a:off x="9491" y="2331"/>
              <a:ext cx="5087" cy="5463"/>
              <a:chOff x="9491" y="2331"/>
              <a:chExt cx="5087" cy="7121"/>
            </a:xfrm>
          </p:grpSpPr>
          <p:grpSp>
            <p:nvGrpSpPr>
              <p:cNvPr id="46" name="组合 45"/>
              <p:cNvGrpSpPr/>
              <p:nvPr/>
            </p:nvGrpSpPr>
            <p:grpSpPr>
              <a:xfrm rot="0">
                <a:off x="9491" y="2331"/>
                <a:ext cx="5087" cy="7112"/>
                <a:chOff x="2148" y="1681"/>
                <a:chExt cx="5583" cy="7746"/>
              </a:xfrm>
            </p:grpSpPr>
            <p:sp>
              <p:nvSpPr>
                <p:cNvPr id="47" name="矩形 46"/>
                <p:cNvSpPr/>
                <p:nvPr/>
              </p:nvSpPr>
              <p:spPr>
                <a:xfrm>
                  <a:off x="2148" y="1681"/>
                  <a:ext cx="5583" cy="774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400"/>
                </a:p>
              </p:txBody>
            </p:sp>
            <p:cxnSp>
              <p:nvCxnSpPr>
                <p:cNvPr id="48" name="直接连接符 47"/>
                <p:cNvCxnSpPr/>
                <p:nvPr/>
              </p:nvCxnSpPr>
              <p:spPr>
                <a:xfrm>
                  <a:off x="2148" y="4188"/>
                  <a:ext cx="5583" cy="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文本框 52"/>
              <p:cNvSpPr txBox="1"/>
              <p:nvPr/>
            </p:nvSpPr>
            <p:spPr>
              <a:xfrm>
                <a:off x="10875" y="8791"/>
                <a:ext cx="2274" cy="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latin typeface="微软雅黑" panose="020B0503020204020204" charset="-122"/>
                    <a:ea typeface="微软雅黑" panose="020B0503020204020204" charset="-122"/>
                  </a:rPr>
                  <a:t>Foreground</a:t>
                </a:r>
                <a:endParaRPr lang="en-US" altLang="zh-CN" sz="1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5507355" y="1849755"/>
            <a:ext cx="3181985" cy="512445"/>
            <a:chOff x="10635" y="2722"/>
            <a:chExt cx="5011" cy="807"/>
          </a:xfrm>
        </p:grpSpPr>
        <p:grpSp>
          <p:nvGrpSpPr>
            <p:cNvPr id="41" name="组合 40"/>
            <p:cNvGrpSpPr/>
            <p:nvPr/>
          </p:nvGrpSpPr>
          <p:grpSpPr>
            <a:xfrm rot="0">
              <a:off x="10635" y="2722"/>
              <a:ext cx="2099" cy="772"/>
              <a:chOff x="14070" y="2117"/>
              <a:chExt cx="2458" cy="816"/>
            </a:xfrm>
          </p:grpSpPr>
          <p:sp>
            <p:nvSpPr>
              <p:cNvPr id="42" name="梯形 41"/>
              <p:cNvSpPr/>
              <p:nvPr/>
            </p:nvSpPr>
            <p:spPr>
              <a:xfrm>
                <a:off x="14070" y="2117"/>
                <a:ext cx="2458" cy="816"/>
              </a:xfrm>
              <a:prstGeom prst="trapezoid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0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4312" y="2274"/>
                <a:ext cx="2131" cy="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p>
                <a:r>
                  <a:rPr lang="en-US" altLang="zh-CN" sz="1200" b="1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CFMMAgent</a:t>
                </a:r>
                <a:endPara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 rot="0">
              <a:off x="13400" y="2733"/>
              <a:ext cx="2246" cy="796"/>
              <a:chOff x="12332" y="807"/>
              <a:chExt cx="2718" cy="796"/>
            </a:xfrm>
          </p:grpSpPr>
          <p:sp>
            <p:nvSpPr>
              <p:cNvPr id="62" name="圆角矩形 61"/>
              <p:cNvSpPr/>
              <p:nvPr/>
            </p:nvSpPr>
            <p:spPr>
              <a:xfrm>
                <a:off x="12332" y="807"/>
                <a:ext cx="2417" cy="796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2332" y="977"/>
                <a:ext cx="2718" cy="43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1200" b="1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sym typeface="+mn-ea"/>
                  </a:rPr>
                  <a:t>Currency Pool</a:t>
                </a:r>
                <a:endPara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78" name="左右箭头 77"/>
            <p:cNvSpPr/>
            <p:nvPr/>
          </p:nvSpPr>
          <p:spPr>
            <a:xfrm>
              <a:off x="12711" y="2992"/>
              <a:ext cx="573" cy="232"/>
            </a:xfrm>
            <a:prstGeom prst="leftRight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9" name="上下箭头 78"/>
          <p:cNvSpPr/>
          <p:nvPr/>
        </p:nvSpPr>
        <p:spPr>
          <a:xfrm rot="20100000">
            <a:off x="6478905" y="2374900"/>
            <a:ext cx="185420" cy="556260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rot="0">
            <a:off x="5877560" y="3997960"/>
            <a:ext cx="2034540" cy="802005"/>
            <a:chOff x="8400" y="4927"/>
            <a:chExt cx="3204" cy="1263"/>
          </a:xfrm>
        </p:grpSpPr>
        <p:sp>
          <p:nvSpPr>
            <p:cNvPr id="83" name="菱形 82"/>
            <p:cNvSpPr/>
            <p:nvPr/>
          </p:nvSpPr>
          <p:spPr>
            <a:xfrm>
              <a:off x="8400" y="4927"/>
              <a:ext cx="3204" cy="1263"/>
            </a:xfrm>
            <a:prstGeom prst="diamond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8929" y="5314"/>
              <a:ext cx="2137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Routing Method</a:t>
              </a:r>
              <a:endParaRPr lang="en-US" altLang="zh-CN" sz="1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1233170" y="4073525"/>
            <a:ext cx="1676400" cy="466725"/>
            <a:chOff x="7788" y="5612"/>
            <a:chExt cx="3660" cy="777"/>
          </a:xfrm>
        </p:grpSpPr>
        <p:sp>
          <p:nvSpPr>
            <p:cNvPr id="11" name="椭圆 10"/>
            <p:cNvSpPr/>
            <p:nvPr/>
          </p:nvSpPr>
          <p:spPr>
            <a:xfrm>
              <a:off x="7788" y="5612"/>
              <a:ext cx="3660" cy="77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267" y="5740"/>
              <a:ext cx="3118" cy="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>
                  <a:ln/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MomentumAgent</a:t>
              </a:r>
              <a:endParaRPr lang="en-US" altLang="zh-CN" sz="1200">
                <a:ln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3621405" y="3531235"/>
            <a:ext cx="1576070" cy="466725"/>
            <a:chOff x="7788" y="5612"/>
            <a:chExt cx="2951" cy="777"/>
          </a:xfrm>
        </p:grpSpPr>
        <p:sp>
          <p:nvSpPr>
            <p:cNvPr id="14" name="椭圆 13"/>
            <p:cNvSpPr/>
            <p:nvPr/>
          </p:nvSpPr>
          <p:spPr>
            <a:xfrm>
              <a:off x="7788" y="5612"/>
              <a:ext cx="2951" cy="77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433" y="5753"/>
              <a:ext cx="2132" cy="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NoiseAgent</a:t>
              </a:r>
              <a:endParaRPr lang="en-US" altLang="zh-CN" sz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 rot="0">
            <a:off x="3787775" y="2928620"/>
            <a:ext cx="1403350" cy="466725"/>
            <a:chOff x="9298" y="2543"/>
            <a:chExt cx="3048" cy="777"/>
          </a:xfrm>
        </p:grpSpPr>
        <p:sp>
          <p:nvSpPr>
            <p:cNvPr id="17" name="椭圆 16"/>
            <p:cNvSpPr/>
            <p:nvPr/>
          </p:nvSpPr>
          <p:spPr>
            <a:xfrm>
              <a:off x="9298" y="2543"/>
              <a:ext cx="3048" cy="77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777" y="2671"/>
              <a:ext cx="2141" cy="4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ValueAgent</a:t>
              </a:r>
              <a:endParaRPr lang="en-US" altLang="zh-CN" sz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rot="0">
            <a:off x="1551305" y="1811020"/>
            <a:ext cx="1569459" cy="508000"/>
            <a:chOff x="14070" y="2117"/>
            <a:chExt cx="2894" cy="845"/>
          </a:xfrm>
        </p:grpSpPr>
        <p:sp>
          <p:nvSpPr>
            <p:cNvPr id="39" name="梯形 38"/>
            <p:cNvSpPr/>
            <p:nvPr/>
          </p:nvSpPr>
          <p:spPr>
            <a:xfrm>
              <a:off x="14070" y="2117"/>
              <a:ext cx="2894" cy="845"/>
            </a:xfrm>
            <a:prstGeom prst="trapezoid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283" y="2339"/>
              <a:ext cx="2482" cy="4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ExchangeAgent</a:t>
              </a:r>
              <a:endParaRPr lang="en-US" altLang="zh-CN" sz="1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1233170" y="3503295"/>
            <a:ext cx="1887855" cy="466725"/>
            <a:chOff x="7788" y="5612"/>
            <a:chExt cx="3863" cy="777"/>
          </a:xfrm>
        </p:grpSpPr>
        <p:sp>
          <p:nvSpPr>
            <p:cNvPr id="26" name="椭圆 25"/>
            <p:cNvSpPr/>
            <p:nvPr/>
          </p:nvSpPr>
          <p:spPr>
            <a:xfrm>
              <a:off x="7788" y="5612"/>
              <a:ext cx="3863" cy="777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267" y="5740"/>
              <a:ext cx="2964" cy="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PovExcutionAgent</a:t>
              </a:r>
              <a:endParaRPr lang="en-US" altLang="zh-CN" sz="12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1233170" y="2908935"/>
            <a:ext cx="2495550" cy="513080"/>
            <a:chOff x="7788" y="5543"/>
            <a:chExt cx="4840" cy="854"/>
          </a:xfrm>
        </p:grpSpPr>
        <p:sp>
          <p:nvSpPr>
            <p:cNvPr id="29" name="椭圆 28"/>
            <p:cNvSpPr/>
            <p:nvPr/>
          </p:nvSpPr>
          <p:spPr>
            <a:xfrm>
              <a:off x="7788" y="5543"/>
              <a:ext cx="4840" cy="85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122" y="5704"/>
              <a:ext cx="4293" cy="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AdaptiveMarketMaker</a:t>
              </a:r>
              <a:r>
                <a:rPr lang="en-US" altLang="zh-CN" sz="120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Agent</a:t>
              </a:r>
              <a:endParaRPr lang="en-US" altLang="zh-CN" sz="120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1154430" y="2642870"/>
            <a:ext cx="4093210" cy="14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5" name="组合 54"/>
          <p:cNvGrpSpPr/>
          <p:nvPr/>
        </p:nvGrpSpPr>
        <p:grpSpPr>
          <a:xfrm rot="0">
            <a:off x="3776345" y="860425"/>
            <a:ext cx="1566545" cy="480695"/>
            <a:chOff x="14477" y="4108"/>
            <a:chExt cx="3699" cy="757"/>
          </a:xfrm>
          <a:solidFill>
            <a:schemeClr val="accent6"/>
          </a:solidFill>
        </p:grpSpPr>
        <p:sp>
          <p:nvSpPr>
            <p:cNvPr id="54" name="矩形 53"/>
            <p:cNvSpPr/>
            <p:nvPr/>
          </p:nvSpPr>
          <p:spPr>
            <a:xfrm>
              <a:off x="14477" y="4108"/>
              <a:ext cx="3699" cy="75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772" y="4233"/>
              <a:ext cx="3103" cy="42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SnapshotAgent</a:t>
              </a:r>
              <a:endParaRPr lang="en-US" altLang="zh-CN" sz="1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154430" y="1480185"/>
            <a:ext cx="4105275" cy="3636010"/>
            <a:chOff x="1818" y="2331"/>
            <a:chExt cx="6578" cy="5436"/>
          </a:xfrm>
        </p:grpSpPr>
        <p:sp>
          <p:nvSpPr>
            <p:cNvPr id="37" name="文本框 36"/>
            <p:cNvSpPr txBox="1"/>
            <p:nvPr/>
          </p:nvSpPr>
          <p:spPr>
            <a:xfrm>
              <a:off x="1818" y="2332"/>
              <a:ext cx="2289" cy="5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CLOB </a:t>
              </a:r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MODE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1818" y="2331"/>
              <a:ext cx="6578" cy="5436"/>
              <a:chOff x="1818" y="2331"/>
              <a:chExt cx="6578" cy="700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18" y="2331"/>
                <a:ext cx="6578" cy="700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400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714" y="8678"/>
                <a:ext cx="2458" cy="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latin typeface="微软雅黑" panose="020B0503020204020204" charset="-122"/>
                    <a:ea typeface="微软雅黑" panose="020B0503020204020204" charset="-122"/>
                  </a:rPr>
                  <a:t>Background</a:t>
                </a:r>
                <a:endParaRPr lang="en-US" altLang="zh-CN" sz="1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 rot="0">
            <a:off x="3872230" y="1832619"/>
            <a:ext cx="1282700" cy="494665"/>
            <a:chOff x="12332" y="900"/>
            <a:chExt cx="2417" cy="796"/>
          </a:xfrm>
          <a:solidFill>
            <a:schemeClr val="accent2">
              <a:lumMod val="75000"/>
            </a:schemeClr>
          </a:solidFill>
        </p:grpSpPr>
        <p:sp>
          <p:nvSpPr>
            <p:cNvPr id="66" name="圆角矩形 65"/>
            <p:cNvSpPr/>
            <p:nvPr/>
          </p:nvSpPr>
          <p:spPr>
            <a:xfrm>
              <a:off x="12332" y="900"/>
              <a:ext cx="2417" cy="796"/>
            </a:xfrm>
            <a:prstGeom prst="round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2636" y="1080"/>
              <a:ext cx="1940" cy="443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Order Book</a:t>
              </a:r>
              <a:endParaRPr lang="en-US" altLang="zh-CN" sz="1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</p:grpSp>
      <p:sp>
        <p:nvSpPr>
          <p:cNvPr id="76" name="上下箭头 75"/>
          <p:cNvSpPr/>
          <p:nvPr/>
        </p:nvSpPr>
        <p:spPr>
          <a:xfrm>
            <a:off x="2288540" y="2375535"/>
            <a:ext cx="185420" cy="529590"/>
          </a:xfrm>
          <a:prstGeom prst="up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左右箭头 76"/>
          <p:cNvSpPr/>
          <p:nvPr/>
        </p:nvSpPr>
        <p:spPr>
          <a:xfrm>
            <a:off x="3215640" y="2021205"/>
            <a:ext cx="560705" cy="147320"/>
          </a:xfrm>
          <a:prstGeom prst="left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9" name="组合 88"/>
          <p:cNvGrpSpPr/>
          <p:nvPr/>
        </p:nvGrpSpPr>
        <p:grpSpPr>
          <a:xfrm rot="0">
            <a:off x="3072130" y="4131945"/>
            <a:ext cx="2026285" cy="473075"/>
            <a:chOff x="7788" y="5612"/>
            <a:chExt cx="3906" cy="77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0" name="椭圆 89"/>
            <p:cNvSpPr/>
            <p:nvPr/>
          </p:nvSpPr>
          <p:spPr>
            <a:xfrm>
              <a:off x="7788" y="5612"/>
              <a:ext cx="3906" cy="7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8207" y="5762"/>
              <a:ext cx="3419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r>
                <a:rPr lang="en-US" altLang="zh-CN" sz="1200" b="1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MarketHybridAgent</a:t>
              </a:r>
              <a:endParaRPr lang="en-US" altLang="zh-CN" sz="1200" b="1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99" name="矩形 98"/>
          <p:cNvSpPr/>
          <p:nvPr/>
        </p:nvSpPr>
        <p:spPr>
          <a:xfrm>
            <a:off x="8988425" y="1497330"/>
            <a:ext cx="955675" cy="36188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Kernel</a:t>
            </a:r>
            <a:endParaRPr lang="en-US" altLang="zh-CN"/>
          </a:p>
        </p:txBody>
      </p:sp>
      <p:sp>
        <p:nvSpPr>
          <p:cNvPr id="100" name="左箭头 99"/>
          <p:cNvSpPr/>
          <p:nvPr/>
        </p:nvSpPr>
        <p:spPr>
          <a:xfrm>
            <a:off x="7980045" y="3064510"/>
            <a:ext cx="936625" cy="438785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wakeup</a:t>
            </a:r>
            <a:endParaRPr lang="en-US" altLang="zh-CN" sz="1400"/>
          </a:p>
        </p:txBody>
      </p:sp>
      <p:sp>
        <p:nvSpPr>
          <p:cNvPr id="105" name="上箭头 104"/>
          <p:cNvSpPr/>
          <p:nvPr/>
        </p:nvSpPr>
        <p:spPr>
          <a:xfrm>
            <a:off x="4421505" y="1356995"/>
            <a:ext cx="184785" cy="44386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上下箭头 105"/>
          <p:cNvSpPr/>
          <p:nvPr/>
        </p:nvSpPr>
        <p:spPr>
          <a:xfrm>
            <a:off x="6802755" y="3556635"/>
            <a:ext cx="186690" cy="413385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上下箭头 107"/>
          <p:cNvSpPr/>
          <p:nvPr/>
        </p:nvSpPr>
        <p:spPr>
          <a:xfrm rot="16200000">
            <a:off x="5375910" y="4065270"/>
            <a:ext cx="212090" cy="654050"/>
          </a:xfrm>
          <a:prstGeom prst="upDownArrow">
            <a:avLst>
              <a:gd name="adj1" fmla="val 50000"/>
              <a:gd name="adj2" fmla="val 58682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演示</Application>
  <PresentationFormat>宽屏</PresentationFormat>
  <Paragraphs>40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　</cp:lastModifiedBy>
  <cp:revision>159</cp:revision>
  <dcterms:created xsi:type="dcterms:W3CDTF">2019-06-19T02:08:00Z</dcterms:created>
  <dcterms:modified xsi:type="dcterms:W3CDTF">2025-11-15T10:36:52Z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A11A589197B4457783307E8566AF8590_11</vt:lpwstr>
  </property>
</Properties>
</file>